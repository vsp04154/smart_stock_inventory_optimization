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1" r:id="rId3"/>
    <p:sldId id="259" r:id="rId4"/>
    <p:sldId id="260" r:id="rId5"/>
    <p:sldId id="258" r:id="rId6"/>
    <p:sldId id="262" r:id="rId7"/>
    <p:sldId id="263" r:id="rId8"/>
    <p:sldId id="264" r:id="rId9"/>
    <p:sldId id="265" r:id="rId10"/>
    <p:sldId id="267" r:id="rId11"/>
    <p:sldId id="268" r:id="rId12"/>
    <p:sldId id="266" r:id="rId13"/>
    <p:sldId id="269" r:id="rId14"/>
    <p:sldId id="270" r:id="rId15"/>
    <p:sldId id="273" r:id="rId16"/>
    <p:sldId id="271" r:id="rId17"/>
    <p:sldId id="272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DA72D8-8A91-43F1-97ED-E243AE79A4BC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00412-8CA6-45FA-B1FC-413800366A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450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00412-8CA6-45FA-B1FC-413800366A2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823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33BCD-C9B0-616A-71C3-A2605BBBD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12518D-7E01-64E2-9691-A93B4B7C7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0666F-EF4A-11FC-F151-C03340C49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0CF0-E2D5-47C1-A590-34177D9A665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BC762-7977-4897-7817-9FBBC9AB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0F19D-6B95-2338-CD12-3759CE44B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77D-54DA-4479-AF10-A0441B8FA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46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C70D-5BC6-13C2-102C-2F2FB582D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E9E9F-EAAA-5F2B-A841-CE67A665D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7387D-D6CB-4408-8B62-C5D4BE3B7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0CF0-E2D5-47C1-A590-34177D9A665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FDBB6-EC3B-3218-3FF2-950D9268B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6583F-DD6D-0A14-5EF5-595BE691A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77D-54DA-4479-AF10-A0441B8FA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07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48264-D8A9-416F-91B3-0EA35C87F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43585-B48F-0C2E-43C1-3F8F4BC14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E4781-E0B4-B4D1-0275-27F9C5A37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0CF0-E2D5-47C1-A590-34177D9A665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B6A49-90ED-E235-AA33-184C461A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03799-A7AA-5D67-C125-E3D013380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77D-54DA-4479-AF10-A0441B8FA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840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B549-D524-EEAC-66DA-BAFA35EB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A1275-ACF6-1C2C-48D4-9749B3575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8FE3D-5830-B776-16FD-5E0B4BF96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E8DA2-C561-3101-D301-62D3E4463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0CF0-E2D5-47C1-A590-34177D9A665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2AC60-96BC-7236-4F27-23239A1D0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6315F-511A-A69E-26D2-F33B6ADD5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77D-54DA-4479-AF10-A0441B8FA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326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5A6F-84E5-A73B-282F-27C985D33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D6624-DDD8-2B45-22D7-DC7D0F8C7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9AE19-8C6D-0936-BA4D-4EB42138C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40BB75-8285-DEB3-D9A5-015ACCD83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353CC-1F01-A878-D9D7-B041FDAD19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664407-44A5-9E0E-7EF7-990107CF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0CF0-E2D5-47C1-A590-34177D9A665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BEB909-4497-EA97-4936-C31E9CADA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08812-4CF8-5D7B-6D4C-001C33976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77D-54DA-4479-AF10-A0441B8FA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767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2495-BEC8-0EBE-B788-C8CF180E3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2CA773-F023-D07F-5F05-8AB8A86E1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0CF0-E2D5-47C1-A590-34177D9A665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9FA708-3C90-71A9-88FE-E88B924DF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858AAA-EA54-B968-67FB-99537437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77D-54DA-4479-AF10-A0441B8FA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485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573E8-1161-5834-C042-2C8ACFFD4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0CF0-E2D5-47C1-A590-34177D9A665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16876-F349-FCF3-6900-A19CED2DF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84A8F-1166-9870-0456-CB9BBC2E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77D-54DA-4479-AF10-A0441B8FA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5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609C-C4FF-E54A-228C-5F655C63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8DD7B-94F8-98C5-9C4C-C7D8A187F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C5DB1-18AC-56F7-961A-562DA1779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B6F32-6F9B-A59A-DCA5-3A11EB577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0CF0-E2D5-47C1-A590-34177D9A665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4E498-901F-0A0E-AC21-1EC353E8C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75C64-FC0D-8B54-2C19-464FDB320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77D-54DA-4479-AF10-A0441B8FA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346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D3D19-54BD-B6B7-9775-557833B9C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E8518-987C-A413-C62B-4BEDE3A482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4A4DD-A9D6-043A-777E-425CBC7F8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C1095-338B-D883-CBDB-D0EE06C0A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0CF0-E2D5-47C1-A590-34177D9A665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BA89B-8CE4-E108-B5DC-A5D9D7596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08278-A91C-116B-CC49-288AB5FBA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77D-54DA-4479-AF10-A0441B8FA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077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E759-4749-66FC-4CF8-930FFAF55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DC853-4479-DB44-F3ED-D5E257929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B52D6-2896-2378-5B67-1830DD716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0CF0-E2D5-47C1-A590-34177D9A665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C6AAA-45DD-B3F2-089B-08237CE4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D1D11-2E04-C1CE-DED0-699F1412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77D-54DA-4479-AF10-A0441B8FA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706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040E10-39E2-1215-AB8A-CE0056BA1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9506EB-0971-367C-A916-45AFF79F4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CDE66-CD4D-EFD5-400E-6A9A8D64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0CF0-E2D5-47C1-A590-34177D9A665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B40AC-5ED7-EB2F-0A43-D7EA36212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0B445-1E25-2985-3A4B-59192015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77D-54DA-4479-AF10-A0441B8FA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37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0E9C51-0D09-8F9B-5B8E-DF0CC6B00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6A861-D35B-D6EB-233C-F5D9E6BE6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1491D-FC03-FA8B-5F22-8069B4C31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F0CF0-E2D5-47C1-A590-34177D9A665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925F8-6706-8B9F-FAD0-8CFB54BCED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BA0E5-EB7F-061B-A74B-327E0F679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5A77D-54DA-4479-AF10-A0441B8FAE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355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accent2">
                <a:lumMod val="75000"/>
              </a:schemeClr>
            </a:gs>
            <a:gs pos="90000">
              <a:schemeClr val="accent1">
                <a:lumMod val="45000"/>
                <a:lumOff val="55000"/>
              </a:schemeClr>
            </a:gs>
            <a:gs pos="97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92CA8-BCFD-1AA6-4B35-8B7BBA7A9F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1380" y="-617947"/>
            <a:ext cx="10304207" cy="2387600"/>
          </a:xfrm>
        </p:spPr>
        <p:txBody>
          <a:bodyPr>
            <a:normAutofit fontScale="90000"/>
          </a:bodyPr>
          <a:lstStyle/>
          <a:p>
            <a:r>
              <a:rPr lang="en-IN" dirty="0">
                <a:ln>
                  <a:solidFill>
                    <a:srgbClr val="FFC000"/>
                  </a:solidFill>
                </a:ln>
                <a:solidFill>
                  <a:srgbClr val="00B0F0"/>
                </a:solidFill>
                <a:latin typeface="Arial Rounded MT Bold" panose="020F0704030504030204" pitchFamily="34" charset="0"/>
              </a:rPr>
              <a:t>Smart Stock Inventory Optimization for Retail Stores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72912-D03A-51DE-D331-85416BBEF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9664" y="6237083"/>
            <a:ext cx="4847303" cy="48818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By- Vaishnavi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43A48-0C5E-0946-77E3-E43D1E050A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96" t="1640" r="9517" b="1256"/>
          <a:stretch>
            <a:fillRect/>
          </a:stretch>
        </p:blipFill>
        <p:spPr>
          <a:xfrm>
            <a:off x="540774" y="2263134"/>
            <a:ext cx="6092723" cy="421803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796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accent2">
                <a:lumMod val="75000"/>
              </a:schemeClr>
            </a:gs>
            <a:gs pos="90000">
              <a:schemeClr val="accent1">
                <a:lumMod val="45000"/>
                <a:lumOff val="55000"/>
              </a:schemeClr>
            </a:gs>
            <a:gs pos="97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9076D-1E69-BC38-8B9F-8937C250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04961-2E33-B275-6F14-7151AE9C4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40542" y="-43890"/>
            <a:ext cx="7236542" cy="90441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8C30E-1D53-60D9-8785-58F363807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837" y="977745"/>
            <a:ext cx="11428326" cy="1655762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 “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Inventory Optimization System”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software-based AI solution that analyzes sales trends, demand patterns, supplier performance, and historical data to automatically recommend the right stock levels.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using machine learning models, datasets from platforms like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Kaggle, and an intelligent dashboard, the system helps retail stores maintain optimal inventory, reduce wastage, and ensure products are always available on time. This smart approach minimizes manual work, supports decision-making, and makes inventory planning faster, more accurate, and cost-efficient.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82827D-DADE-82C7-B22A-D53E64CB1ADB}"/>
              </a:ext>
            </a:extLst>
          </p:cNvPr>
          <p:cNvSpPr txBox="1">
            <a:spLocks/>
          </p:cNvSpPr>
          <p:nvPr/>
        </p:nvSpPr>
        <p:spPr>
          <a:xfrm>
            <a:off x="-151590" y="3202934"/>
            <a:ext cx="7236542" cy="90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D247953-946A-D357-415F-66BC5868A6B4}"/>
              </a:ext>
            </a:extLst>
          </p:cNvPr>
          <p:cNvSpPr txBox="1">
            <a:spLocks/>
          </p:cNvSpPr>
          <p:nvPr/>
        </p:nvSpPr>
        <p:spPr>
          <a:xfrm>
            <a:off x="381837" y="4224493"/>
            <a:ext cx="11428326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 stores face stockouts and overstocking due to inaccurate forecasting, manual monitoring, and difficulty analyzing large sales and supplier data.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Stockouts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Overstocking Issues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Inaccurate Demand Forecasting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Inventory Tracking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419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accent2">
                <a:lumMod val="75000"/>
              </a:schemeClr>
            </a:gs>
            <a:gs pos="90000">
              <a:schemeClr val="accent1">
                <a:lumMod val="45000"/>
                <a:lumOff val="55000"/>
              </a:schemeClr>
            </a:gs>
            <a:gs pos="97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DBC894-5BD9-4729-D845-3592F1ACF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CB2D7-D6FA-A48A-4B22-BBE5D2587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16780" y="-102938"/>
            <a:ext cx="10304207" cy="924079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IN" dirty="0">
                <a:ln>
                  <a:solidFill>
                    <a:srgbClr val="FFC000"/>
                  </a:solidFill>
                </a:ln>
                <a:solidFill>
                  <a:srgbClr val="00B0F0"/>
                </a:solidFill>
                <a:latin typeface="Arial Rounded MT Bold" panose="020F0704030504030204" pitchFamily="34" charset="0"/>
              </a:rPr>
              <a:t> </a:t>
            </a:r>
            <a:r>
              <a:rPr lang="en-IN" sz="4400" b="1" dirty="0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44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2BA366-10A5-807E-B05C-57BC4433EB23}"/>
              </a:ext>
            </a:extLst>
          </p:cNvPr>
          <p:cNvSpPr/>
          <p:nvPr/>
        </p:nvSpPr>
        <p:spPr>
          <a:xfrm>
            <a:off x="1028637" y="838866"/>
            <a:ext cx="2733368" cy="5604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(Retail store inventory By Kaggle)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E976DE-5FA2-AA66-3D76-15C5722FE802}"/>
              </a:ext>
            </a:extLst>
          </p:cNvPr>
          <p:cNvSpPr/>
          <p:nvPr/>
        </p:nvSpPr>
        <p:spPr>
          <a:xfrm>
            <a:off x="1644324" y="1762225"/>
            <a:ext cx="1651816" cy="4296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</p:txBody>
      </p:sp>
      <p:pic>
        <p:nvPicPr>
          <p:cNvPr id="9" name="Graphic 21" descr="Database with solid fill">
            <a:extLst>
              <a:ext uri="{FF2B5EF4-FFF2-40B4-BE49-F238E27FC236}">
                <a16:creationId xmlns:a16="http://schemas.microsoft.com/office/drawing/2014/main" id="{9CE55079-29B2-D785-EA08-DEB0F0485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0360" y="1718978"/>
            <a:ext cx="525780" cy="5257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D9183C0-79AB-7156-5BE5-182DD64FC5D2}"/>
              </a:ext>
            </a:extLst>
          </p:cNvPr>
          <p:cNvSpPr/>
          <p:nvPr/>
        </p:nvSpPr>
        <p:spPr>
          <a:xfrm>
            <a:off x="98324" y="2717627"/>
            <a:ext cx="1347018" cy="18838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Id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price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Expiry date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quantity 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sales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Weekly sales</a:t>
            </a:r>
          </a:p>
          <a:p>
            <a:pPr algn="ctr"/>
            <a:endParaRPr lang="en-IN" sz="14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221F6C-289C-281E-8616-64DA0FBFB82B}"/>
              </a:ext>
            </a:extLst>
          </p:cNvPr>
          <p:cNvSpPr/>
          <p:nvPr/>
        </p:nvSpPr>
        <p:spPr>
          <a:xfrm>
            <a:off x="1720645" y="2717627"/>
            <a:ext cx="1347018" cy="18838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selling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 selling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 selling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stock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Perishable stock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 stock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 stock</a:t>
            </a:r>
          </a:p>
          <a:p>
            <a:pPr algn="ctr"/>
            <a:endParaRPr lang="en-IN" sz="14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6C6277-23B4-19DD-B3AC-4E0D1D00A699}"/>
              </a:ext>
            </a:extLst>
          </p:cNvPr>
          <p:cNvSpPr/>
          <p:nvPr/>
        </p:nvSpPr>
        <p:spPr>
          <a:xfrm>
            <a:off x="3296141" y="2717627"/>
            <a:ext cx="1069382" cy="1411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Id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Id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Units sold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DADB88-A444-B633-A1F0-04C7D0046686}"/>
              </a:ext>
            </a:extLst>
          </p:cNvPr>
          <p:cNvCxnSpPr>
            <a:cxnSpLocks/>
          </p:cNvCxnSpPr>
          <p:nvPr/>
        </p:nvCxnSpPr>
        <p:spPr>
          <a:xfrm>
            <a:off x="2470232" y="1399304"/>
            <a:ext cx="0" cy="36292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EEA022D-660D-C2F5-DF2D-7C6145CCF56E}"/>
              </a:ext>
            </a:extLst>
          </p:cNvPr>
          <p:cNvCxnSpPr>
            <a:cxnSpLocks/>
          </p:cNvCxnSpPr>
          <p:nvPr/>
        </p:nvCxnSpPr>
        <p:spPr>
          <a:xfrm>
            <a:off x="853010" y="2354706"/>
            <a:ext cx="0" cy="36292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ED34E9-E600-63F9-BD14-8EFB00C734EA}"/>
              </a:ext>
            </a:extLst>
          </p:cNvPr>
          <p:cNvCxnSpPr>
            <a:cxnSpLocks/>
          </p:cNvCxnSpPr>
          <p:nvPr/>
        </p:nvCxnSpPr>
        <p:spPr>
          <a:xfrm>
            <a:off x="3762005" y="2357393"/>
            <a:ext cx="0" cy="36292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A83FB91-CAE4-C75A-6071-2570EA7CF080}"/>
              </a:ext>
            </a:extLst>
          </p:cNvPr>
          <p:cNvCxnSpPr>
            <a:cxnSpLocks/>
          </p:cNvCxnSpPr>
          <p:nvPr/>
        </p:nvCxnSpPr>
        <p:spPr>
          <a:xfrm>
            <a:off x="2470232" y="2354706"/>
            <a:ext cx="0" cy="36292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D2518FD-E86F-5BF4-405B-248E6C67A940}"/>
              </a:ext>
            </a:extLst>
          </p:cNvPr>
          <p:cNvCxnSpPr>
            <a:cxnSpLocks/>
          </p:cNvCxnSpPr>
          <p:nvPr/>
        </p:nvCxnSpPr>
        <p:spPr>
          <a:xfrm>
            <a:off x="853010" y="2354706"/>
            <a:ext cx="2908995" cy="0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F5F25EB-DC2A-F7A5-6CBA-B64BDFEA1CEE}"/>
              </a:ext>
            </a:extLst>
          </p:cNvPr>
          <p:cNvCxnSpPr/>
          <p:nvPr/>
        </p:nvCxnSpPr>
        <p:spPr>
          <a:xfrm>
            <a:off x="2470232" y="2191847"/>
            <a:ext cx="0" cy="231178"/>
          </a:xfrm>
          <a:prstGeom prst="line">
            <a:avLst/>
          </a:prstGeom>
          <a:ln w="38100"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97BC14D-1719-55C5-128E-EE68BE1CA005}"/>
              </a:ext>
            </a:extLst>
          </p:cNvPr>
          <p:cNvCxnSpPr>
            <a:cxnSpLocks/>
          </p:cNvCxnSpPr>
          <p:nvPr/>
        </p:nvCxnSpPr>
        <p:spPr>
          <a:xfrm>
            <a:off x="739940" y="4964418"/>
            <a:ext cx="3060000" cy="0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5D2D07-249A-DF04-924B-47776F794086}"/>
              </a:ext>
            </a:extLst>
          </p:cNvPr>
          <p:cNvCxnSpPr>
            <a:cxnSpLocks/>
          </p:cNvCxnSpPr>
          <p:nvPr/>
        </p:nvCxnSpPr>
        <p:spPr>
          <a:xfrm>
            <a:off x="739940" y="4601497"/>
            <a:ext cx="0" cy="36292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B7F72B7-E464-FD2F-D359-DCD2DED1ED89}"/>
              </a:ext>
            </a:extLst>
          </p:cNvPr>
          <p:cNvCxnSpPr>
            <a:cxnSpLocks/>
          </p:cNvCxnSpPr>
          <p:nvPr/>
        </p:nvCxnSpPr>
        <p:spPr>
          <a:xfrm>
            <a:off x="3799940" y="4129548"/>
            <a:ext cx="0" cy="828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227567A-4849-7537-6C55-4C54C205201E}"/>
              </a:ext>
            </a:extLst>
          </p:cNvPr>
          <p:cNvCxnSpPr>
            <a:cxnSpLocks/>
          </p:cNvCxnSpPr>
          <p:nvPr/>
        </p:nvCxnSpPr>
        <p:spPr>
          <a:xfrm>
            <a:off x="2470232" y="4601497"/>
            <a:ext cx="0" cy="36292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405E99D-9797-377A-9E9D-54CEFAB278C6}"/>
              </a:ext>
            </a:extLst>
          </p:cNvPr>
          <p:cNvSpPr/>
          <p:nvPr/>
        </p:nvSpPr>
        <p:spPr>
          <a:xfrm>
            <a:off x="1103548" y="5161935"/>
            <a:ext cx="2733368" cy="1679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4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4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Level</a:t>
            </a: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Overstock, Stock out, Low stock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Expiry risk Indicator</a:t>
            </a:r>
          </a:p>
          <a:p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risk, Medium risk, Low risk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Demand, Stockout</a:t>
            </a:r>
          </a:p>
          <a:p>
            <a:pPr marL="342900" indent="-342900" algn="ctr">
              <a:buFont typeface="+mj-lt"/>
              <a:buAutoNum type="arabicPeriod"/>
            </a:pPr>
            <a:endParaRPr lang="en-IN" sz="14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ctr">
              <a:buFont typeface="Wingdings" panose="05000000000000000000" pitchFamily="2" charset="2"/>
              <a:buChar char="q"/>
            </a:pPr>
            <a:endParaRPr lang="en-IN" sz="14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3" name="Picture 2" descr="Pie Chart | Resources - Chart Library | Datylon">
            <a:extLst>
              <a:ext uri="{FF2B5EF4-FFF2-40B4-BE49-F238E27FC236}">
                <a16:creationId xmlns:a16="http://schemas.microsoft.com/office/drawing/2014/main" id="{6CF036FC-7044-42BC-EE20-E80D82471E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0" t="13047" r="8423" b="4659"/>
          <a:stretch>
            <a:fillRect/>
          </a:stretch>
        </p:blipFill>
        <p:spPr bwMode="auto">
          <a:xfrm>
            <a:off x="3175818" y="5174443"/>
            <a:ext cx="559506" cy="54685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9C24C23-8072-DE92-F851-814178B06A1E}"/>
              </a:ext>
            </a:extLst>
          </p:cNvPr>
          <p:cNvCxnSpPr>
            <a:cxnSpLocks/>
          </p:cNvCxnSpPr>
          <p:nvPr/>
        </p:nvCxnSpPr>
        <p:spPr>
          <a:xfrm>
            <a:off x="2470232" y="4957548"/>
            <a:ext cx="0" cy="2844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55B761CD-5655-5130-CD81-4015DEE85518}"/>
              </a:ext>
            </a:extLst>
          </p:cNvPr>
          <p:cNvSpPr txBox="1">
            <a:spLocks/>
          </p:cNvSpPr>
          <p:nvPr/>
        </p:nvSpPr>
        <p:spPr>
          <a:xfrm>
            <a:off x="4888041" y="1256938"/>
            <a:ext cx="7624288" cy="9240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TOOLS/ TECHNOLOGY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39BD2442-2043-7B86-3603-3B011AACC31C}"/>
              </a:ext>
            </a:extLst>
          </p:cNvPr>
          <p:cNvSpPr txBox="1">
            <a:spLocks/>
          </p:cNvSpPr>
          <p:nvPr/>
        </p:nvSpPr>
        <p:spPr>
          <a:xfrm>
            <a:off x="5627606" y="2181017"/>
            <a:ext cx="6145158" cy="14119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Frontend- React.js/HTML/CSS</a:t>
            </a:r>
          </a:p>
          <a:p>
            <a:pPr lvl="0" algn="l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Backend- Python</a:t>
            </a:r>
          </a:p>
          <a:p>
            <a:pPr lvl="0" algn="l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Database- MySQL</a:t>
            </a:r>
          </a:p>
          <a:p>
            <a:pPr lvl="0" algn="l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API- Fast API</a:t>
            </a:r>
          </a:p>
          <a:p>
            <a:pPr lvl="0" algn="l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Dataset- Retail Store Inventory (Kaggle)</a:t>
            </a:r>
          </a:p>
        </p:txBody>
      </p:sp>
    </p:spTree>
    <p:extLst>
      <p:ext uri="{BB962C8B-B14F-4D97-AF65-F5344CB8AC3E}">
        <p14:creationId xmlns:p14="http://schemas.microsoft.com/office/powerpoint/2010/main" val="107651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96492-40B5-6C37-CBCC-2DF09929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6FE2A-F67E-44E9-E773-06D262A05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00981" y="0"/>
            <a:ext cx="7236542" cy="90441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5110B-AD5A-A625-7D2B-1D0EB3CA1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501" y="1096044"/>
            <a:ext cx="4671944" cy="5452240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Database- Inventory retail store                                           </a:t>
            </a:r>
          </a:p>
          <a:p>
            <a:pPr algn="l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MySQL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</a:p>
          <a:p>
            <a:pPr algn="l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Python 3.10+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Framework</a:t>
            </a:r>
          </a:p>
          <a:p>
            <a:pPr algn="l">
              <a:lnSpc>
                <a:spcPct val="100000"/>
              </a:lnSpc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Fast API </a:t>
            </a:r>
          </a:p>
          <a:p>
            <a:pPr algn="l">
              <a:lnSpc>
                <a:spcPct val="100000"/>
              </a:lnSpc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Django REST Framework (DRF)</a:t>
            </a:r>
          </a:p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Needed</a:t>
            </a:r>
          </a:p>
          <a:p>
            <a:pPr algn="just">
              <a:lnSpc>
                <a:spcPct val="100000"/>
              </a:lnSpc>
            </a:pPr>
            <a:r>
              <a:rPr lang="en-IN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 algn="just">
              <a:lnSpc>
                <a:spcPct val="100000"/>
              </a:lnSpc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0000"/>
              </a:lnSpc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pandas </a:t>
            </a:r>
          </a:p>
          <a:p>
            <a:pPr algn="just">
              <a:lnSpc>
                <a:spcPct val="100000"/>
              </a:lnSpc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pymysql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urllib.parse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matplotlib</a:t>
            </a:r>
          </a:p>
          <a:p>
            <a:pPr algn="l">
              <a:lnSpc>
                <a:spcPct val="100000"/>
              </a:lnSpc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ED0C006-36FD-566F-122A-A6B2EF942FD4}"/>
              </a:ext>
            </a:extLst>
          </p:cNvPr>
          <p:cNvSpPr txBox="1">
            <a:spLocks/>
          </p:cNvSpPr>
          <p:nvPr/>
        </p:nvSpPr>
        <p:spPr>
          <a:xfrm>
            <a:off x="6646608" y="1096044"/>
            <a:ext cx="4671944" cy="50786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/ Environment Tools</a:t>
            </a:r>
          </a:p>
          <a:p>
            <a:pPr algn="l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 </a:t>
            </a:r>
          </a:p>
          <a:p>
            <a:pPr algn="l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</a:p>
          <a:p>
            <a:pPr algn="l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Git/GitHub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</a:p>
          <a:p>
            <a:pPr algn="l"/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058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732CBB-8421-F375-B751-E46761FE5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E61F-9132-1D80-0D7C-C5E4710C3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40542" y="-227006"/>
            <a:ext cx="7236542" cy="90441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6D20B-E13C-7FA0-2DBD-B5BDB9F95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837" y="751916"/>
            <a:ext cx="11428326" cy="1655762"/>
          </a:xfrm>
        </p:spPr>
        <p:txBody>
          <a:bodyPr>
            <a:noAutofit/>
          </a:bodyPr>
          <a:lstStyle/>
          <a:p>
            <a:pPr marL="342900" indent="-342900" algn="l">
              <a:buAutoNum type="arabicPeriod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Downloaded dataset from Kaggle ( retail store inventory)</a:t>
            </a:r>
          </a:p>
          <a:p>
            <a:pPr marL="342900" indent="-342900" algn="l">
              <a:buAutoNum type="arabicPeriod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csv file of dataset</a:t>
            </a:r>
          </a:p>
          <a:p>
            <a:pPr marL="342900" indent="-342900" algn="l">
              <a:buAutoNum type="arabicPeriod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“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smart_inventory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 algn="l">
              <a:buAutoNum type="arabicPeriod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tables- 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retail_store_inventory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AutoNum type="arabicPeriod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Loaded csv file into 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AutoNum type="arabicPeriod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AutoNum type="arabicPeriod"/>
            </a:pP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064AF7-2007-5BEC-9810-5C8E92E0890A}"/>
              </a:ext>
            </a:extLst>
          </p:cNvPr>
          <p:cNvSpPr txBox="1">
            <a:spLocks/>
          </p:cNvSpPr>
          <p:nvPr/>
        </p:nvSpPr>
        <p:spPr>
          <a:xfrm>
            <a:off x="-200752" y="2633507"/>
            <a:ext cx="7236542" cy="90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CONNECTOR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7444FAC-8D3A-BEB9-2AE9-75B3B275C78F}"/>
              </a:ext>
            </a:extLst>
          </p:cNvPr>
          <p:cNvSpPr txBox="1">
            <a:spLocks/>
          </p:cNvSpPr>
          <p:nvPr/>
        </p:nvSpPr>
        <p:spPr>
          <a:xfrm>
            <a:off x="381837" y="3537922"/>
            <a:ext cx="5714163" cy="2499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Installed Python packages: pandas, 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pymysql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connect Python to your database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pandas to 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data in Python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smart Inventory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Checked products with low stock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low stock alert</a:t>
            </a:r>
          </a:p>
          <a:p>
            <a:pPr marL="342900" indent="-342900" algn="l">
              <a:buFont typeface="+mj-lt"/>
              <a:buAutoNum type="arabicPeriod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58AB970-83F2-B319-56B0-2A15A518DC3C}"/>
              </a:ext>
            </a:extLst>
          </p:cNvPr>
          <p:cNvSpPr txBox="1">
            <a:spLocks/>
          </p:cNvSpPr>
          <p:nvPr/>
        </p:nvSpPr>
        <p:spPr>
          <a:xfrm>
            <a:off x="6345102" y="3537922"/>
            <a:ext cx="5714163" cy="2499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+mj-lt"/>
              <a:buAutoNum type="arabicPeriod"/>
            </a:pPr>
            <a:r>
              <a:rPr lang="en-US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 Chart for Total Inventory per Store-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see how much stock each store currently has.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 Chart for Units Sold per Category-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identify which product categories sell the most.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IN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Level Summary Chart-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see how products are distributed by inventory level (Low, Medium, High).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165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accent2">
                <a:lumMod val="75000"/>
              </a:schemeClr>
            </a:gs>
            <a:gs pos="90000">
              <a:schemeClr val="accent1">
                <a:lumMod val="45000"/>
                <a:lumOff val="55000"/>
              </a:schemeClr>
            </a:gs>
            <a:gs pos="97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3EC64-A31D-1F94-B360-39F6584C9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48BA-96DC-AAEA-C099-99EC7BE76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86813" y="-94293"/>
            <a:ext cx="9728209" cy="90441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TRAINING: Sales Prediction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58DFD59-7075-A079-19B9-7F77EF0487E4}"/>
              </a:ext>
            </a:extLst>
          </p:cNvPr>
          <p:cNvSpPr txBox="1">
            <a:spLocks/>
          </p:cNvSpPr>
          <p:nvPr/>
        </p:nvSpPr>
        <p:spPr>
          <a:xfrm>
            <a:off x="381837" y="4224493"/>
            <a:ext cx="11428326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C3F7C4-BF22-5B47-F450-0FD3642B74B8}"/>
              </a:ext>
            </a:extLst>
          </p:cNvPr>
          <p:cNvSpPr/>
          <p:nvPr/>
        </p:nvSpPr>
        <p:spPr>
          <a:xfrm>
            <a:off x="1425677" y="860525"/>
            <a:ext cx="7708491" cy="9783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sales for each product based on historical data and inventory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decisions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 alerts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47D4BF-6F21-D4C2-9A5A-455C6D90A352}"/>
              </a:ext>
            </a:extLst>
          </p:cNvPr>
          <p:cNvSpPr txBox="1"/>
          <p:nvPr/>
        </p:nvSpPr>
        <p:spPr>
          <a:xfrm>
            <a:off x="129438" y="2033342"/>
            <a:ext cx="68514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1.Data Preparation:</a:t>
            </a:r>
            <a:endParaRPr lang="en-US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Extracted relevant features from the database: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category,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inventory_level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units_sold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units_ordered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demand_forecast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price, discount, seasonality, etc.</a:t>
            </a:r>
          </a:p>
          <a:p>
            <a:pPr lvl="1"/>
            <a:endParaRPr lang="en-US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1F2B7C26-13E9-E513-2814-4CAE1DE0B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083" y="3286303"/>
            <a:ext cx="770849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2.Conversion: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categorical variables if needed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and preprocessed data for training: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 data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 sets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model performance.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4F68CE-BCAA-239C-6400-B668C0F2F9AC}"/>
              </a:ext>
            </a:extLst>
          </p:cNvPr>
          <p:cNvSpPr txBox="1"/>
          <p:nvPr/>
        </p:nvSpPr>
        <p:spPr>
          <a:xfrm>
            <a:off x="129438" y="5141591"/>
            <a:ext cx="62680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Model Selection: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prediction: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relationships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overfitting via ensemble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feature importance insights</a:t>
            </a:r>
          </a:p>
        </p:txBody>
      </p:sp>
    </p:spTree>
    <p:extLst>
      <p:ext uri="{BB962C8B-B14F-4D97-AF65-F5344CB8AC3E}">
        <p14:creationId xmlns:p14="http://schemas.microsoft.com/office/powerpoint/2010/main" val="2417746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accent2">
                <a:lumMod val="75000"/>
              </a:schemeClr>
            </a:gs>
            <a:gs pos="90000">
              <a:schemeClr val="accent1">
                <a:lumMod val="45000"/>
                <a:lumOff val="55000"/>
              </a:schemeClr>
            </a:gs>
            <a:gs pos="97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5BD5D-8586-54A5-58E9-03D651BAC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43EA-FA73-9DA3-CC47-87D49FED0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7819" y="-167194"/>
            <a:ext cx="9728209" cy="90441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TRAINING: Sales Prediction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9D59CC1-F8FC-00E7-8FFE-0081B7828772}"/>
              </a:ext>
            </a:extLst>
          </p:cNvPr>
          <p:cNvSpPr txBox="1">
            <a:spLocks/>
          </p:cNvSpPr>
          <p:nvPr/>
        </p:nvSpPr>
        <p:spPr>
          <a:xfrm>
            <a:off x="381837" y="4224493"/>
            <a:ext cx="11428326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C5C673-8374-071B-6C76-776F56A7EDDC}"/>
              </a:ext>
            </a:extLst>
          </p:cNvPr>
          <p:cNvSpPr txBox="1"/>
          <p:nvPr/>
        </p:nvSpPr>
        <p:spPr>
          <a:xfrm>
            <a:off x="208096" y="977745"/>
            <a:ext cx="73234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Training Process:</a:t>
            </a:r>
            <a:endParaRPr lang="en-US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 on historical sales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future sales for each product.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predictions with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sales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Adjusted model parameters for better performance if needed.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A858EF1B-9895-3624-20E9-891A8A9D0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755" y="3147804"/>
            <a:ext cx="770849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Outcome:</a:t>
            </a:r>
            <a:endParaRPr lang="en-US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predictions of future sales per product.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decision-making for: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alerts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Reorder suggestions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 to integrate into the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621928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08490-2E5A-E965-EB55-C0901B609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89B4C-B9CB-84AC-0436-58C37709D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236542" cy="90441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TOOLS/TECHNOLOGIES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871BBC6-7643-DE5C-5403-ADB6F3E66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626" y="1160207"/>
            <a:ext cx="9144000" cy="43360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Programming &amp; Libraries:</a:t>
            </a:r>
            <a:endParaRPr lang="en-IN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Core programming language</a:t>
            </a:r>
          </a:p>
          <a:p>
            <a:pPr algn="l"/>
            <a:endParaRPr lang="en-IN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Handling &amp; Preprocessing:</a:t>
            </a:r>
            <a:endParaRPr lang="en-IN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 – Load, clean, and manipulate data</a:t>
            </a:r>
          </a:p>
          <a:p>
            <a:pPr algn="l"/>
            <a:r>
              <a:rPr lang="en-IN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Numerical operations and array handling</a:t>
            </a:r>
          </a:p>
          <a:p>
            <a:pPr algn="l"/>
            <a:endParaRPr lang="en-IN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Machine Learning:</a:t>
            </a:r>
            <a:endParaRPr lang="en-IN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– Random Forest Regressor</a:t>
            </a:r>
          </a:p>
          <a:p>
            <a:pPr algn="l"/>
            <a:r>
              <a:rPr lang="en-IN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(from 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– Split data into training and testing sets</a:t>
            </a:r>
          </a:p>
          <a:p>
            <a:pPr algn="l"/>
            <a:endParaRPr lang="en-IN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Optional / Visualization (for evaluating model):</a:t>
            </a:r>
            <a:endParaRPr lang="en-IN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Visualize actual vs predicted sales</a:t>
            </a:r>
          </a:p>
          <a:p>
            <a:pPr algn="l"/>
            <a:endParaRPr lang="en-IN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9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54A73-5B72-3FFE-6210-093A61C9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8757-CA8C-3D45-2C0E-CD09293C4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0"/>
            <a:ext cx="9124335" cy="90441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DATABASE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4D4C45C-58E3-196F-B780-45CE821C8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626" y="1160207"/>
            <a:ext cx="9144000" cy="433602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Model Training:</a:t>
            </a:r>
            <a:endParaRPr lang="en-US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historical sales and inventory data.</a:t>
            </a:r>
          </a:p>
          <a:p>
            <a:pPr algn="l"/>
            <a:endParaRPr lang="en-US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Database Connection:</a:t>
            </a:r>
            <a:endParaRPr lang="en-US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connect Python to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Fetched data directly from the database for training and predictions.</a:t>
            </a:r>
          </a:p>
          <a:p>
            <a:pPr algn="l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Stored predicted sales and alerts back into the database for dashboard use.</a:t>
            </a:r>
          </a:p>
          <a:p>
            <a:pPr algn="l"/>
            <a:endParaRPr lang="en-US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Dashboard Integration:</a:t>
            </a:r>
            <a:endParaRPr lang="en-US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reads real-time data (actual + predicted sales) from MySQL.</a:t>
            </a:r>
          </a:p>
          <a:p>
            <a:pPr algn="l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stock alerts, reorder suggestions, and visual charts for all products.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C6300-10EB-B15F-456B-B5ECA9071A87}"/>
              </a:ext>
            </a:extLst>
          </p:cNvPr>
          <p:cNvSpPr txBox="1"/>
          <p:nvPr/>
        </p:nvSpPr>
        <p:spPr>
          <a:xfrm>
            <a:off x="2989007" y="2971489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Integration with Database</a:t>
            </a:r>
          </a:p>
        </p:txBody>
      </p:sp>
    </p:spTree>
    <p:extLst>
      <p:ext uri="{BB962C8B-B14F-4D97-AF65-F5344CB8AC3E}">
        <p14:creationId xmlns:p14="http://schemas.microsoft.com/office/powerpoint/2010/main" val="2962638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DF978-2484-D7DD-B873-9C8964ED6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73C3C-8782-B945-326E-4F0E33EDC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89936" y="-152499"/>
            <a:ext cx="7236542" cy="90441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ALERTS 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BC0F729-B8C4-617F-0FE0-6242C1B86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787" y="805741"/>
            <a:ext cx="9144000" cy="5781871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Purpose: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stock information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help with inventory management.</a:t>
            </a:r>
          </a:p>
          <a:p>
            <a:pPr algn="l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timely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reorder decisions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avoid stockouts.</a:t>
            </a:r>
          </a:p>
          <a:p>
            <a:pPr algn="l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Types of Alerts: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Stock Alert: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Current inventory is below a predefined threshold. </a:t>
            </a:r>
          </a:p>
          <a:p>
            <a:pPr algn="l"/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 Stock Alert: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Inventory is zero for a product.</a:t>
            </a:r>
          </a:p>
          <a:p>
            <a:pPr algn="l"/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Reorder Alert: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Predicted sales exceed current stock, indicating need to reorder.</a:t>
            </a:r>
          </a:p>
          <a:p>
            <a:pPr algn="l"/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Implementation: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 are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based on actual stock and predicted sales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trained model.</a:t>
            </a:r>
          </a:p>
          <a:p>
            <a:pPr algn="l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Displayed on the </a:t>
            </a:r>
            <a:r>
              <a:rPr lang="en-US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each product.</a:t>
            </a:r>
          </a:p>
          <a:p>
            <a:pPr algn="l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 are shown in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clear, readable format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(black font) alongside actual and predicted sales.</a:t>
            </a:r>
          </a:p>
          <a:p>
            <a:pPr algn="l"/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Outcome: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proactive inventory management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the risk of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stockouts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lost sales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optimize 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reorder timing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quantities.</a:t>
            </a:r>
          </a:p>
          <a:p>
            <a:pPr algn="l"/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8D206AA-2D39-EC3B-AF81-63DDD5CDE32E}"/>
              </a:ext>
            </a:extLst>
          </p:cNvPr>
          <p:cNvSpPr/>
          <p:nvPr/>
        </p:nvSpPr>
        <p:spPr>
          <a:xfrm>
            <a:off x="6440129" y="2123768"/>
            <a:ext cx="206477" cy="22614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EE4BD4-E618-4FD9-F938-0E5EBC957BCC}"/>
              </a:ext>
            </a:extLst>
          </p:cNvPr>
          <p:cNvSpPr/>
          <p:nvPr/>
        </p:nvSpPr>
        <p:spPr>
          <a:xfrm>
            <a:off x="4994787" y="2502310"/>
            <a:ext cx="206477" cy="22614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614B710-9305-BB23-C597-566D6D5DB33D}"/>
              </a:ext>
            </a:extLst>
          </p:cNvPr>
          <p:cNvSpPr/>
          <p:nvPr/>
        </p:nvSpPr>
        <p:spPr>
          <a:xfrm>
            <a:off x="7143136" y="2816942"/>
            <a:ext cx="206477" cy="2261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742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482737-7799-C31E-4B73-4F691F9D4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46AE-A1D6-C37D-59AE-F1D989580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91382" y="-295397"/>
            <a:ext cx="9144001" cy="90441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 DASHBOARD</a:t>
            </a:r>
            <a:endParaRPr lang="en-IN" sz="44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6594606-F10A-C59B-EF27-CCF7EEAA0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787" y="805741"/>
            <a:ext cx="9144000" cy="5781871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Purpose: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an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interface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monitor actual vs predicted sales.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alerts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reorder suggestions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real-time.</a:t>
            </a:r>
          </a:p>
          <a:p>
            <a:pPr algn="l"/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Features: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vs Predicted Sales: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 charts show comparison for each product.</a:t>
            </a:r>
          </a:p>
          <a:p>
            <a:pPr algn="l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Alerts: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Low stock, empty stock, and reorder alerts clearly displayed.</a:t>
            </a:r>
          </a:p>
          <a:p>
            <a:pPr algn="l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Details: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Product ID, category, current stock, predicted sales.</a:t>
            </a:r>
          </a:p>
          <a:p>
            <a:pPr algn="l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Updates: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Connects directly to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fetch real-time data.</a:t>
            </a:r>
          </a:p>
          <a:p>
            <a:pPr algn="l"/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User Experience: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Clean,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layout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quick insights.</a:t>
            </a:r>
          </a:p>
          <a:p>
            <a:pPr algn="l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alerts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black font for clarity.</a:t>
            </a:r>
          </a:p>
          <a:p>
            <a:pPr algn="l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products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their alerts shown simultaneously.</a:t>
            </a:r>
          </a:p>
          <a:p>
            <a:pPr algn="l"/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Outcome: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proactive inventory management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stock levels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reorder timing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and interactive view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sales predictions and stock status.</a:t>
            </a:r>
          </a:p>
        </p:txBody>
      </p:sp>
    </p:spTree>
    <p:extLst>
      <p:ext uri="{BB962C8B-B14F-4D97-AF65-F5344CB8AC3E}">
        <p14:creationId xmlns:p14="http://schemas.microsoft.com/office/powerpoint/2010/main" val="2712772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accent2">
                <a:lumMod val="75000"/>
              </a:schemeClr>
            </a:gs>
            <a:gs pos="90000">
              <a:schemeClr val="accent1">
                <a:lumMod val="45000"/>
                <a:lumOff val="55000"/>
              </a:schemeClr>
            </a:gs>
            <a:gs pos="97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9B3D5-986A-2A8B-F290-7A03FEF6E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9F904-24AE-644D-542C-41CDFABD4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1063" y="0"/>
            <a:ext cx="2974312" cy="90441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903C96D-9C5C-13D1-8C1E-DB262EFB2DAD}"/>
              </a:ext>
            </a:extLst>
          </p:cNvPr>
          <p:cNvSpPr txBox="1">
            <a:spLocks/>
          </p:cNvSpPr>
          <p:nvPr/>
        </p:nvSpPr>
        <p:spPr>
          <a:xfrm>
            <a:off x="381837" y="4224493"/>
            <a:ext cx="11428326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E89439-C861-78A0-C64A-91EBA10CD9BA}"/>
              </a:ext>
            </a:extLst>
          </p:cNvPr>
          <p:cNvSpPr txBox="1"/>
          <p:nvPr/>
        </p:nvSpPr>
        <p:spPr>
          <a:xfrm>
            <a:off x="221064" y="776778"/>
            <a:ext cx="732341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Libraries: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 – Analyze stock and sales data to determine alert conditions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– Predict future sales for reorder calculations</a:t>
            </a:r>
          </a:p>
          <a:p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Display alerts interactively on the dashboard</a:t>
            </a:r>
          </a:p>
          <a:p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Optional: Visualize alerts with bar charts</a:t>
            </a:r>
          </a:p>
          <a:p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CSS (inside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components)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Tools &amp; Technologies: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Store historical inventory and sales data</a:t>
            </a:r>
          </a:p>
          <a:p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-connector-python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Fetch data from MySQL into Python</a:t>
            </a:r>
          </a:p>
          <a:p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Show real-time alerts for each product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Alert Logic Implemented: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Stock: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Inventory below threshold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 Stock: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Inventory = 0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Reorder Needed: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Predicted sales &gt; current stock</a:t>
            </a:r>
          </a:p>
          <a:p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486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3964D-0F20-123C-DF36-90A824C26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64BD3-CAF9-E51E-5323-5B9826DB0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30711" y="-88337"/>
            <a:ext cx="9124335" cy="90441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Stock Alert- Reorder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0EE9E84-929D-68CB-A60F-41330F8EE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626" y="1160207"/>
            <a:ext cx="9144000" cy="4336025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1.Database Design &amp; Data Source (MySQL)</a:t>
            </a:r>
          </a:p>
          <a:p>
            <a:pPr algn="l"/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the backend database to store and manage inventory data.</a:t>
            </a:r>
          </a:p>
          <a:p>
            <a:pPr algn="l"/>
            <a:endParaRPr lang="en-IN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Tables Used</a:t>
            </a:r>
          </a:p>
          <a:p>
            <a:pPr algn="l"/>
            <a:r>
              <a:rPr lang="en-IN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inventory_transactions</a:t>
            </a:r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stock levels, demand, sales</a:t>
            </a:r>
          </a:p>
          <a:p>
            <a:pPr algn="l"/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→ product details and categories</a:t>
            </a:r>
          </a:p>
          <a:p>
            <a:pPr algn="l"/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suppliers → supplier rating, discount, lead time</a:t>
            </a:r>
          </a:p>
          <a:p>
            <a:pPr algn="l"/>
            <a:r>
              <a:rPr lang="en-IN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product_suppliers</a:t>
            </a:r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product–supplier mapping</a:t>
            </a:r>
          </a:p>
          <a:p>
            <a:pPr algn="l"/>
            <a:r>
              <a:rPr lang="en-IN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purchase_orders</a:t>
            </a:r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reorder records</a:t>
            </a:r>
          </a:p>
        </p:txBody>
      </p:sp>
    </p:spTree>
    <p:extLst>
      <p:ext uri="{BB962C8B-B14F-4D97-AF65-F5344CB8AC3E}">
        <p14:creationId xmlns:p14="http://schemas.microsoft.com/office/powerpoint/2010/main" val="1577911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119A5-AAB0-511A-1CF2-7AFBA4B35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FE2DB-6EEA-DF0E-E665-78A322B44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30711" y="-88337"/>
            <a:ext cx="9124335" cy="90441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Stock Alert- Reorder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3E11A78-52FD-9C19-F768-225203F41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626" y="1160206"/>
            <a:ext cx="10225548" cy="5486399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2.Data Processing &amp; Business Logic (SQL + Pandas)</a:t>
            </a:r>
          </a:p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Low Stock Detection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identified shortages using SQL:</a:t>
            </a:r>
          </a:p>
          <a:p>
            <a:pPr algn="l">
              <a:lnSpc>
                <a:spcPct val="100000"/>
              </a:lnSpc>
            </a:pPr>
            <a:r>
              <a:rPr lang="en-US" sz="18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inventory_level</a:t>
            </a:r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sz="18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demand_forecast</a:t>
            </a:r>
            <a:endParaRPr lang="en-US" sz="1800" b="1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calculated:</a:t>
            </a:r>
          </a:p>
          <a:p>
            <a:pPr algn="l">
              <a:lnSpc>
                <a:spcPct val="100000"/>
              </a:lnSpc>
            </a:pPr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shortage = </a:t>
            </a:r>
            <a:r>
              <a:rPr lang="en-US" sz="18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demand_forecast</a:t>
            </a:r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inventory_level</a:t>
            </a:r>
            <a:endParaRPr lang="en-US" sz="1800" b="1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logic ensures proactive detection before stockouts.</a:t>
            </a:r>
          </a:p>
          <a:p>
            <a:pPr algn="l">
              <a:lnSpc>
                <a:spcPct val="100000"/>
              </a:lnSpc>
            </a:pPr>
            <a:b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Reorder Point Calculation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used </a:t>
            </a:r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historical sales data</a:t>
            </a:r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calculate reorder points:</a:t>
            </a:r>
          </a:p>
          <a:p>
            <a:pPr algn="l">
              <a:lnSpc>
                <a:spcPct val="100000"/>
              </a:lnSpc>
            </a:pPr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Reorder Point = (Average Units Sold × 7 days) + Safety Stock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is </a:t>
            </a:r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</a:t>
            </a:r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realistic.</a:t>
            </a:r>
          </a:p>
          <a:p>
            <a:pPr algn="l">
              <a:lnSpc>
                <a:spcPct val="100000"/>
              </a:lnSpc>
            </a:pPr>
            <a:b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9978B0-23E4-7888-2C52-76EDB5D4F877}"/>
              </a:ext>
            </a:extLst>
          </p:cNvPr>
          <p:cNvSpPr txBox="1"/>
          <p:nvPr/>
        </p:nvSpPr>
        <p:spPr>
          <a:xfrm>
            <a:off x="7202130" y="2619900"/>
            <a:ext cx="50685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Urgency Ranking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Urgency is calculated as:</a:t>
            </a:r>
          </a:p>
          <a:p>
            <a:pPr algn="l">
              <a:lnSpc>
                <a:spcPct val="100000"/>
              </a:lnSpc>
            </a:pPr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Urgency = Reorder Point − Current Stock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are ordered by urgency so that </a:t>
            </a:r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items appear first</a:t>
            </a:r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6691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150168-E6BE-88F7-0FAB-B9D9B5316A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1877368" cy="662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94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31ADBF-0E0E-0624-7AAC-C08302912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8645D-CFBF-E658-7A16-63C6D0C50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70523"/>
            <a:ext cx="5899354" cy="90441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 Management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878DE38-BCCA-8FB5-EE6D-3B3DC7A73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626" y="1160206"/>
            <a:ext cx="10225548" cy="5486399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 Score Formula</a:t>
            </a:r>
          </a:p>
          <a:p>
            <a:pPr algn="l"/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 Score = (rating × 0.5) + (discount × 0.3) − (lead time × 0.2)</a:t>
            </a:r>
          </a:p>
          <a:p>
            <a:pPr algn="l"/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Flow</a:t>
            </a:r>
          </a:p>
          <a:p>
            <a:pPr algn="l"/>
            <a:r>
              <a:rPr lang="en-US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product category</a:t>
            </a:r>
          </a:p>
          <a:p>
            <a:pPr algn="l"/>
            <a:endParaRPr lang="en-US" sz="1800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suppliers linked to that category</a:t>
            </a:r>
          </a:p>
          <a:p>
            <a:pPr algn="l"/>
            <a:endParaRPr lang="en-US" sz="1800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 suppliers by score</a:t>
            </a:r>
          </a:p>
          <a:p>
            <a:pPr algn="l"/>
            <a:endParaRPr lang="en-US" sz="1800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top supplier automatically</a:t>
            </a:r>
          </a:p>
          <a:p>
            <a:pPr algn="l"/>
            <a:endParaRPr lang="en-US" sz="1800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top 3 suppliers for transparency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C09DCF-8D8E-76CE-1626-80A57CDDC7E5}"/>
              </a:ext>
            </a:extLst>
          </p:cNvPr>
          <p:cNvCxnSpPr/>
          <p:nvPr/>
        </p:nvCxnSpPr>
        <p:spPr>
          <a:xfrm>
            <a:off x="1406013" y="3260622"/>
            <a:ext cx="0" cy="33675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07FA4D-C89B-477D-2FC5-7092D902826F}"/>
              </a:ext>
            </a:extLst>
          </p:cNvPr>
          <p:cNvCxnSpPr/>
          <p:nvPr/>
        </p:nvCxnSpPr>
        <p:spPr>
          <a:xfrm>
            <a:off x="1406013" y="5536790"/>
            <a:ext cx="0" cy="33675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A9A25A3-F9FA-A6DA-009E-D43BAA102A3B}"/>
              </a:ext>
            </a:extLst>
          </p:cNvPr>
          <p:cNvCxnSpPr/>
          <p:nvPr/>
        </p:nvCxnSpPr>
        <p:spPr>
          <a:xfrm>
            <a:off x="1406013" y="4833783"/>
            <a:ext cx="0" cy="33675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945778-ED00-007D-D4F2-C1A9A816E808}"/>
              </a:ext>
            </a:extLst>
          </p:cNvPr>
          <p:cNvCxnSpPr/>
          <p:nvPr/>
        </p:nvCxnSpPr>
        <p:spPr>
          <a:xfrm>
            <a:off x="1406013" y="4091448"/>
            <a:ext cx="0" cy="33675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257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A64FF-4502-8785-6076-25A83DC9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698E-69E0-F59B-AF1C-EA2E19DB2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70523"/>
            <a:ext cx="5899354" cy="904415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Reorder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0054DD8-CC7B-ECBF-8778-8F1311F21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626" y="1160206"/>
            <a:ext cx="10225548" cy="5486399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Reorder Automation</a:t>
            </a: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user clicks </a:t>
            </a: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Reorder</a:t>
            </a: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selects the best supplier</a:t>
            </a: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Inserts a new record into </a:t>
            </a:r>
            <a:r>
              <a:rPr lang="en-US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purchase_orders</a:t>
            </a:r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Updates order status to </a:t>
            </a: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ORDERED</a:t>
            </a: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Confirms the action in UI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13A152-1350-3E46-E832-B2D37E5060DA}"/>
              </a:ext>
            </a:extLst>
          </p:cNvPr>
          <p:cNvCxnSpPr/>
          <p:nvPr/>
        </p:nvCxnSpPr>
        <p:spPr>
          <a:xfrm>
            <a:off x="5506065" y="2238067"/>
            <a:ext cx="0" cy="33675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FF0FA90-2E1D-0F65-3184-DCC9979872DE}"/>
              </a:ext>
            </a:extLst>
          </p:cNvPr>
          <p:cNvCxnSpPr/>
          <p:nvPr/>
        </p:nvCxnSpPr>
        <p:spPr>
          <a:xfrm>
            <a:off x="5506065" y="4907525"/>
            <a:ext cx="0" cy="33675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39011A6-9253-EC4F-496F-49B0CD0912A0}"/>
              </a:ext>
            </a:extLst>
          </p:cNvPr>
          <p:cNvCxnSpPr/>
          <p:nvPr/>
        </p:nvCxnSpPr>
        <p:spPr>
          <a:xfrm>
            <a:off x="5506065" y="3919383"/>
            <a:ext cx="0" cy="33675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731006-EC88-0097-F14A-D072DAB4B169}"/>
              </a:ext>
            </a:extLst>
          </p:cNvPr>
          <p:cNvCxnSpPr/>
          <p:nvPr/>
        </p:nvCxnSpPr>
        <p:spPr>
          <a:xfrm>
            <a:off x="5506065" y="3092245"/>
            <a:ext cx="0" cy="33675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330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01DF2D-9B38-BABD-7AE7-A8B6E34CC1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11916698" cy="662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962399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1482</Words>
  <Application>Microsoft Office PowerPoint</Application>
  <PresentationFormat>Widescreen</PresentationFormat>
  <Paragraphs>271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Rounded MT Bold</vt:lpstr>
      <vt:lpstr>Calibri</vt:lpstr>
      <vt:lpstr>Calibri Light</vt:lpstr>
      <vt:lpstr>Times New Roman</vt:lpstr>
      <vt:lpstr>Wingdings</vt:lpstr>
      <vt:lpstr>Office Theme</vt:lpstr>
      <vt:lpstr>Smart Stock Inventory Optimization for Retail Stores</vt:lpstr>
      <vt:lpstr>INTRODUCTION</vt:lpstr>
      <vt:lpstr>SYSTEM ARCHITECTURE</vt:lpstr>
      <vt:lpstr>BACKEND</vt:lpstr>
      <vt:lpstr>Creating Database</vt:lpstr>
      <vt:lpstr> MODEL TRAINING: Sales Prediction</vt:lpstr>
      <vt:lpstr> MODEL TRAINING: Sales Prediction</vt:lpstr>
      <vt:lpstr>TOOLS/TECHNOLOGIES</vt:lpstr>
      <vt:lpstr>INTEGRATION WITH DATABASE</vt:lpstr>
      <vt:lpstr>INVENTORY ALERTS </vt:lpstr>
      <vt:lpstr>STREAMLIT DASHBOARD</vt:lpstr>
      <vt:lpstr>TOOLS</vt:lpstr>
      <vt:lpstr>Low Stock Alert- Reorder </vt:lpstr>
      <vt:lpstr>Low Stock Alert- Reorder </vt:lpstr>
      <vt:lpstr>PowerPoint Presentation</vt:lpstr>
      <vt:lpstr>Supplier Management</vt:lpstr>
      <vt:lpstr>Automatic Reorder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potuvaishnavi@gmail.com</dc:creator>
  <cp:lastModifiedBy>potuvaishnavi@gmail.com</cp:lastModifiedBy>
  <cp:revision>15</cp:revision>
  <dcterms:created xsi:type="dcterms:W3CDTF">2025-11-21T07:18:42Z</dcterms:created>
  <dcterms:modified xsi:type="dcterms:W3CDTF">2025-12-19T12:45:47Z</dcterms:modified>
</cp:coreProperties>
</file>